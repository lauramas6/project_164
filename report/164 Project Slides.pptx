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Proxima Nova"/>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ProximaNova-bold.fntdata"/><Relationship Id="rId10" Type="http://schemas.openxmlformats.org/officeDocument/2006/relationships/slide" Target="slides/slide5.xml"/><Relationship Id="rId21" Type="http://schemas.openxmlformats.org/officeDocument/2006/relationships/font" Target="fonts/ProximaNova-regular.fntdata"/><Relationship Id="rId13" Type="http://schemas.openxmlformats.org/officeDocument/2006/relationships/slide" Target="slides/slide8.xml"/><Relationship Id="rId24" Type="http://schemas.openxmlformats.org/officeDocument/2006/relationships/font" Target="fonts/ProximaNova-boldItalic.fntdata"/><Relationship Id="rId12" Type="http://schemas.openxmlformats.org/officeDocument/2006/relationships/slide" Target="slides/slide7.xml"/><Relationship Id="rId23" Type="http://schemas.openxmlformats.org/officeDocument/2006/relationships/font" Target="fonts/ProximaNova-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project, we compare how different machine learning models perform depending on the dataset characteristics.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65d45f234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65d45f234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646741a7d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646741a7d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used three datasets representing real-world problems in cybersecurity, business, and weather prediction. </a:t>
            </a:r>
            <a:endParaRPr/>
          </a:p>
          <a:p>
            <a:pPr indent="0" lvl="0" marL="0" rtl="0" algn="l">
              <a:spcBef>
                <a:spcPts val="0"/>
              </a:spcBef>
              <a:spcAft>
                <a:spcPts val="0"/>
              </a:spcAft>
              <a:buClr>
                <a:schemeClr val="dk1"/>
              </a:buClr>
              <a:buSzPts val="1100"/>
              <a:buFont typeface="Arial"/>
              <a:buNone/>
            </a:pPr>
            <a:r>
              <a:rPr lang="en"/>
              <a:t>Phishing → “Well-structured, easy classification”</a:t>
            </a:r>
            <a:endParaRPr/>
          </a:p>
          <a:p>
            <a:pPr indent="0" lvl="0" marL="0" rtl="0" algn="l">
              <a:spcBef>
                <a:spcPts val="0"/>
              </a:spcBef>
              <a:spcAft>
                <a:spcPts val="0"/>
              </a:spcAft>
              <a:buClr>
                <a:schemeClr val="dk1"/>
              </a:buClr>
              <a:buSzPts val="1100"/>
              <a:buFont typeface="Arial"/>
              <a:buNone/>
            </a:pPr>
            <a:r>
              <a:rPr lang="en"/>
              <a:t>Bank → “Imbalanced dataset (hard problem)”</a:t>
            </a:r>
            <a:endParaRPr/>
          </a:p>
          <a:p>
            <a:pPr indent="0" lvl="0" marL="0" rtl="0" algn="l">
              <a:spcBef>
                <a:spcPts val="0"/>
              </a:spcBef>
              <a:spcAft>
                <a:spcPts val="0"/>
              </a:spcAft>
              <a:buClr>
                <a:schemeClr val="dk1"/>
              </a:buClr>
              <a:buSzPts val="1100"/>
              <a:buFont typeface="Arial"/>
              <a:buNone/>
            </a:pPr>
            <a:r>
              <a:rPr lang="en"/>
              <a:t>Weather → “Simple but realistic prediction task”</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646741a7d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e646741a7d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training our models, we cleaned and prepared the data by handling missing values, converting categorical variables into numerical form, scaling the features, and splitting the data into training and testing sets.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646741a7d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646741a7d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selected three common supervised learning models that work well for classification tasks.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9625c950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9625c950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used multiple metrics because accuracy alone is not enough, especially for imbalanced datasets. </a:t>
            </a:r>
            <a:br>
              <a:rPr lang="en"/>
            </a:br>
            <a:r>
              <a:rPr lang="en"/>
              <a:t>For imbalanced datasets, recall and F1-score are more important than accuracy.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9625c950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9625c950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dataset was well-structured, so all models performed strongly, with Decision Tree slightly outperforming the others Because the dataset is clean and well-structured, all models perform well, especially Decision Tree which captures patterns effectively.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9625c950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9625c950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dataset was more challenging due to class imbalance, which affected model performance significantly.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9625c950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9625c950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dataset was highly separable, allowing the Decision Tree model to achieve near-perfect accuracy.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65d45f234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e65d45f234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project demonstrates how machine learning can be applied effectively, but careful data preparation and evaluation are essential.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d9625c950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d9625c950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d9625c950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d9625c950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65d45f234_1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e65d45f234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training our models, we cleaned and prepared the data by handling missing values, converting categorical variables into numerical form, scaling the features, and splitting the data into training and testing sets.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646741a7d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e646741a7d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project demonstrates how machine learning can be applied effectively, but careful data preparation and evaluation are essential.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e646741a7d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e646741a7d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3.jpg"/><Relationship Id="rId5"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Machine Learning Model Comparison using scikit-learn</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Laura Mas Serra, Kazi Islam, Manuel Domingo Mora</a:t>
            </a:r>
            <a:endParaRPr/>
          </a:p>
        </p:txBody>
      </p:sp>
      <p:sp>
        <p:nvSpPr>
          <p:cNvPr id="61" name="Google Shape;61;p13"/>
          <p:cNvSpPr txBox="1"/>
          <p:nvPr/>
        </p:nvSpPr>
        <p:spPr>
          <a:xfrm>
            <a:off x="2422800" y="4302650"/>
            <a:ext cx="6547800" cy="6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Comparing Supervised Models Across Real World Data Sets</a:t>
            </a:r>
            <a:endParaRPr sz="1500">
              <a:solidFill>
                <a:schemeClr val="lt1"/>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5" name="Shape 65"/>
        <p:cNvGrpSpPr/>
        <p:nvPr/>
      </p:nvGrpSpPr>
      <p:grpSpPr>
        <a:xfrm>
          <a:off x="0" y="0"/>
          <a:ext cx="0" cy="0"/>
          <a:chOff x="0" y="0"/>
          <a:chExt cx="0" cy="0"/>
        </a:xfrm>
      </p:grpSpPr>
      <p:sp>
        <p:nvSpPr>
          <p:cNvPr id="66" name="Google Shape;66;p14"/>
          <p:cNvSpPr/>
          <p:nvPr/>
        </p:nvSpPr>
        <p:spPr>
          <a:xfrm>
            <a:off x="258625" y="2905600"/>
            <a:ext cx="2224500" cy="2035200"/>
          </a:xfrm>
          <a:prstGeom prst="ellipse">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en" sz="1300">
                <a:latin typeface="Proxima Nova"/>
                <a:ea typeface="Proxima Nova"/>
                <a:cs typeface="Proxima Nova"/>
                <a:sym typeface="Proxima Nova"/>
              </a:rPr>
              <a:t>Apply Supervised Models to 3 </a:t>
            </a:r>
            <a:r>
              <a:rPr b="1" lang="en" sz="1300">
                <a:latin typeface="Proxima Nova"/>
                <a:ea typeface="Proxima Nova"/>
                <a:cs typeface="Proxima Nova"/>
                <a:sym typeface="Proxima Nova"/>
              </a:rPr>
              <a:t>Real World Datasets.</a:t>
            </a:r>
            <a:endParaRPr sz="1300">
              <a:latin typeface="Proxima Nova"/>
              <a:ea typeface="Proxima Nova"/>
              <a:cs typeface="Proxima Nova"/>
              <a:sym typeface="Proxima Nova"/>
            </a:endParaRPr>
          </a:p>
        </p:txBody>
      </p:sp>
      <p:sp>
        <p:nvSpPr>
          <p:cNvPr id="67" name="Google Shape;67;p14"/>
          <p:cNvSpPr/>
          <p:nvPr/>
        </p:nvSpPr>
        <p:spPr>
          <a:xfrm>
            <a:off x="6660875" y="2905600"/>
            <a:ext cx="2224500" cy="2035200"/>
          </a:xfrm>
          <a:prstGeom prst="ellipse">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en" sz="1300">
                <a:latin typeface="Proxima Nova"/>
                <a:ea typeface="Proxima Nova"/>
                <a:cs typeface="Proxima Nova"/>
                <a:sym typeface="Proxima Nova"/>
              </a:rPr>
              <a:t>Identify which models</a:t>
            </a:r>
            <a:r>
              <a:rPr b="1" lang="en" sz="1300">
                <a:latin typeface="Proxima Nova"/>
                <a:ea typeface="Proxima Nova"/>
                <a:cs typeface="Proxima Nova"/>
                <a:sym typeface="Proxima Nova"/>
              </a:rPr>
              <a:t> work best </a:t>
            </a:r>
            <a:r>
              <a:rPr lang="en" sz="1300">
                <a:latin typeface="Proxima Nova"/>
                <a:ea typeface="Proxima Nova"/>
                <a:cs typeface="Proxima Nova"/>
                <a:sym typeface="Proxima Nova"/>
              </a:rPr>
              <a:t>and </a:t>
            </a:r>
            <a:r>
              <a:rPr b="1" i="1" lang="en" sz="1300">
                <a:latin typeface="Proxima Nova"/>
                <a:ea typeface="Proxima Nova"/>
                <a:cs typeface="Proxima Nova"/>
                <a:sym typeface="Proxima Nova"/>
              </a:rPr>
              <a:t>why</a:t>
            </a:r>
            <a:endParaRPr b="1" i="1" sz="1300">
              <a:latin typeface="Proxima Nova"/>
              <a:ea typeface="Proxima Nova"/>
              <a:cs typeface="Proxima Nova"/>
              <a:sym typeface="Proxima Nova"/>
            </a:endParaRPr>
          </a:p>
        </p:txBody>
      </p:sp>
      <p:sp>
        <p:nvSpPr>
          <p:cNvPr id="68" name="Google Shape;68;p14"/>
          <p:cNvSpPr/>
          <p:nvPr/>
        </p:nvSpPr>
        <p:spPr>
          <a:xfrm>
            <a:off x="3459750" y="2905600"/>
            <a:ext cx="2224500" cy="2035200"/>
          </a:xfrm>
          <a:prstGeom prst="ellipse">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en" sz="1300">
                <a:latin typeface="Proxima Nova"/>
                <a:ea typeface="Proxima Nova"/>
                <a:cs typeface="Proxima Nova"/>
                <a:sym typeface="Proxima Nova"/>
              </a:rPr>
              <a:t>Understand how </a:t>
            </a:r>
            <a:r>
              <a:rPr b="1" lang="en" sz="1300">
                <a:latin typeface="Proxima Nova"/>
                <a:ea typeface="Proxima Nova"/>
                <a:cs typeface="Proxima Nova"/>
                <a:sym typeface="Proxima Nova"/>
              </a:rPr>
              <a:t>data characteristics affect performance</a:t>
            </a:r>
            <a:endParaRPr b="1" sz="1300">
              <a:latin typeface="Proxima Nova"/>
              <a:ea typeface="Proxima Nova"/>
              <a:cs typeface="Proxima Nova"/>
              <a:sym typeface="Proxima Nova"/>
            </a:endParaRPr>
          </a:p>
        </p:txBody>
      </p:sp>
      <p:sp>
        <p:nvSpPr>
          <p:cNvPr id="69" name="Google Shape;69;p14"/>
          <p:cNvSpPr/>
          <p:nvPr/>
        </p:nvSpPr>
        <p:spPr>
          <a:xfrm>
            <a:off x="3134550" y="378675"/>
            <a:ext cx="2874900" cy="2316300"/>
          </a:xfrm>
          <a:prstGeom prst="ellipse">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b="1" lang="en" sz="3000">
                <a:latin typeface="Proxima Nova"/>
                <a:ea typeface="Proxima Nova"/>
                <a:cs typeface="Proxima Nova"/>
                <a:sym typeface="Proxima Nova"/>
              </a:rPr>
              <a:t>Project Objective</a:t>
            </a:r>
            <a:endParaRPr b="1" sz="3000">
              <a:latin typeface="Proxima Nova"/>
              <a:ea typeface="Proxima Nova"/>
              <a:cs typeface="Proxima Nova"/>
              <a:sym typeface="Proxima Nova"/>
            </a:endParaRPr>
          </a:p>
        </p:txBody>
      </p:sp>
      <p:sp>
        <p:nvSpPr>
          <p:cNvPr id="70" name="Google Shape;70;p14"/>
          <p:cNvSpPr/>
          <p:nvPr/>
        </p:nvSpPr>
        <p:spPr>
          <a:xfrm>
            <a:off x="2311450" y="2327325"/>
            <a:ext cx="757200" cy="7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1" name="Google Shape;71;p14"/>
          <p:cNvSpPr/>
          <p:nvPr/>
        </p:nvSpPr>
        <p:spPr>
          <a:xfrm>
            <a:off x="6950050" y="218375"/>
            <a:ext cx="757200" cy="7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2" name="Google Shape;72;p14"/>
          <p:cNvSpPr/>
          <p:nvPr/>
        </p:nvSpPr>
        <p:spPr>
          <a:xfrm>
            <a:off x="6506450" y="1514650"/>
            <a:ext cx="757200" cy="7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3" name="Google Shape;73;p14"/>
          <p:cNvSpPr/>
          <p:nvPr/>
        </p:nvSpPr>
        <p:spPr>
          <a:xfrm>
            <a:off x="220900" y="378675"/>
            <a:ext cx="757200" cy="7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7" name="Shape 77"/>
        <p:cNvGrpSpPr/>
        <p:nvPr/>
      </p:nvGrpSpPr>
      <p:grpSpPr>
        <a:xfrm>
          <a:off x="0" y="0"/>
          <a:ext cx="0" cy="0"/>
          <a:chOff x="0" y="0"/>
          <a:chExt cx="0" cy="0"/>
        </a:xfrm>
      </p:grpSpPr>
      <p:sp>
        <p:nvSpPr>
          <p:cNvPr id="78" name="Google Shape;78;p15"/>
          <p:cNvSpPr/>
          <p:nvPr/>
        </p:nvSpPr>
        <p:spPr>
          <a:xfrm>
            <a:off x="105775" y="912000"/>
            <a:ext cx="6223500" cy="929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9" name="Google Shape;79;p15"/>
          <p:cNvSpPr txBox="1"/>
          <p:nvPr>
            <p:ph idx="1" type="body"/>
          </p:nvPr>
        </p:nvSpPr>
        <p:spPr>
          <a:xfrm>
            <a:off x="105775" y="824475"/>
            <a:ext cx="9144000" cy="2879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Phishing</a:t>
            </a:r>
            <a:r>
              <a:rPr lang="en">
                <a:solidFill>
                  <a:srgbClr val="000000"/>
                </a:solidFill>
              </a:rPr>
              <a:t> Dataset → Detect Fake Websites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Bank Marketing Dataset → Predict Customer Subscription</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Weather Dataset → Predict Rainfall</a:t>
            </a:r>
            <a:endParaRPr>
              <a:solidFill>
                <a:srgbClr val="000000"/>
              </a:solidFill>
            </a:endParaRPr>
          </a:p>
          <a:p>
            <a:pPr indent="0" lvl="0" marL="0" rtl="0" algn="l">
              <a:spcBef>
                <a:spcPts val="1200"/>
              </a:spcBef>
              <a:spcAft>
                <a:spcPts val="1200"/>
              </a:spcAft>
              <a:buNone/>
            </a:pPr>
            <a:r>
              <a:t/>
            </a:r>
            <a:endParaRPr>
              <a:solidFill>
                <a:schemeClr val="dk1"/>
              </a:solidFill>
            </a:endParaRPr>
          </a:p>
        </p:txBody>
      </p:sp>
      <p:sp>
        <p:nvSpPr>
          <p:cNvPr id="80" name="Google Shape;80;p15"/>
          <p:cNvSpPr txBox="1"/>
          <p:nvPr>
            <p:ph type="title"/>
          </p:nvPr>
        </p:nvSpPr>
        <p:spPr>
          <a:xfrm>
            <a:off x="311700" y="239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solidFill>
                  <a:schemeClr val="lt1"/>
                </a:solidFill>
              </a:rPr>
              <a:t>Datasets Used</a:t>
            </a:r>
            <a:endParaRPr b="1" sz="3020">
              <a:solidFill>
                <a:schemeClr val="lt1"/>
              </a:solidFill>
            </a:endParaRPr>
          </a:p>
        </p:txBody>
      </p:sp>
      <p:pic>
        <p:nvPicPr>
          <p:cNvPr id="81" name="Google Shape;81;p15" title="Datasets Diagram.png"/>
          <p:cNvPicPr preferRelativeResize="0"/>
          <p:nvPr/>
        </p:nvPicPr>
        <p:blipFill>
          <a:blip r:embed="rId3">
            <a:alphaModFix/>
          </a:blip>
          <a:stretch>
            <a:fillRect/>
          </a:stretch>
        </p:blipFill>
        <p:spPr>
          <a:xfrm>
            <a:off x="311700" y="1941075"/>
            <a:ext cx="7893726" cy="3021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5" name="Shape 85"/>
        <p:cNvGrpSpPr/>
        <p:nvPr/>
      </p:nvGrpSpPr>
      <p:grpSpPr>
        <a:xfrm>
          <a:off x="0" y="0"/>
          <a:ext cx="0" cy="0"/>
          <a:chOff x="0" y="0"/>
          <a:chExt cx="0" cy="0"/>
        </a:xfrm>
      </p:grpSpPr>
      <p:sp>
        <p:nvSpPr>
          <p:cNvPr id="86" name="Google Shape;86;p16"/>
          <p:cNvSpPr/>
          <p:nvPr/>
        </p:nvSpPr>
        <p:spPr>
          <a:xfrm>
            <a:off x="4919900" y="878150"/>
            <a:ext cx="4156500" cy="14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Normalized features → improved performance for KNN &amp; Logistic Regression</a:t>
            </a:r>
            <a:endParaRPr>
              <a:latin typeface="Proxima Nova"/>
              <a:ea typeface="Proxima Nova"/>
              <a:cs typeface="Proxima Nova"/>
              <a:sym typeface="Proxima Nova"/>
            </a:endParaRPr>
          </a:p>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Train/Test Split (80/20) → Ensured reliable model evaluation</a:t>
            </a:r>
            <a:endParaRPr>
              <a:latin typeface="Proxima Nova"/>
              <a:ea typeface="Proxima Nova"/>
              <a:cs typeface="Proxima Nova"/>
              <a:sym typeface="Proxima Nova"/>
            </a:endParaRPr>
          </a:p>
        </p:txBody>
      </p:sp>
      <p:sp>
        <p:nvSpPr>
          <p:cNvPr id="87" name="Google Shape;87;p16"/>
          <p:cNvSpPr txBox="1"/>
          <p:nvPr>
            <p:ph type="title"/>
          </p:nvPr>
        </p:nvSpPr>
        <p:spPr>
          <a:xfrm>
            <a:off x="954150" y="7900"/>
            <a:ext cx="729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solidFill>
                  <a:schemeClr val="lt1"/>
                </a:solidFill>
              </a:rPr>
              <a:t>Data Preparation</a:t>
            </a:r>
            <a:endParaRPr b="1" sz="3020">
              <a:solidFill>
                <a:schemeClr val="lt1"/>
              </a:solidFill>
            </a:endParaRPr>
          </a:p>
        </p:txBody>
      </p:sp>
      <p:sp>
        <p:nvSpPr>
          <p:cNvPr id="88" name="Google Shape;88;p16"/>
          <p:cNvSpPr/>
          <p:nvPr/>
        </p:nvSpPr>
        <p:spPr>
          <a:xfrm>
            <a:off x="0" y="7900"/>
            <a:ext cx="9198300" cy="50331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89" name="Google Shape;89;p16"/>
          <p:cNvSpPr/>
          <p:nvPr/>
        </p:nvSpPr>
        <p:spPr>
          <a:xfrm>
            <a:off x="274300" y="3184225"/>
            <a:ext cx="4156500" cy="14727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Handled missing values → Prevented Training Errors</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Encoded categorical data → converted text to numeric features</a:t>
            </a:r>
            <a:endParaRPr>
              <a:solidFill>
                <a:schemeClr val="lt1"/>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3" name="Shape 93"/>
        <p:cNvGrpSpPr/>
        <p:nvPr/>
      </p:nvGrpSpPr>
      <p:grpSpPr>
        <a:xfrm>
          <a:off x="0" y="0"/>
          <a:ext cx="0" cy="0"/>
          <a:chOff x="0" y="0"/>
          <a:chExt cx="0" cy="0"/>
        </a:xfrm>
      </p:grpSpPr>
      <p:sp>
        <p:nvSpPr>
          <p:cNvPr id="94" name="Google Shape;94;p17"/>
          <p:cNvSpPr/>
          <p:nvPr/>
        </p:nvSpPr>
        <p:spPr>
          <a:xfrm>
            <a:off x="438075" y="1200900"/>
            <a:ext cx="4066500" cy="1100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95" name="Google Shape;9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Logistic Regression → Linear Model</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Decision Tree </a:t>
            </a:r>
            <a:r>
              <a:rPr lang="en">
                <a:solidFill>
                  <a:srgbClr val="000000"/>
                </a:solidFill>
              </a:rPr>
              <a:t>→ rule-based splits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KNN </a:t>
            </a:r>
            <a:r>
              <a:rPr lang="en">
                <a:solidFill>
                  <a:srgbClr val="000000"/>
                </a:solidFill>
              </a:rPr>
              <a:t>→ distance based</a:t>
            </a:r>
            <a:endParaRPr>
              <a:solidFill>
                <a:srgbClr val="000000"/>
              </a:solidFill>
            </a:endParaRPr>
          </a:p>
          <a:p>
            <a:pPr indent="0" lvl="0" marL="0" rtl="0" algn="l">
              <a:spcBef>
                <a:spcPts val="1200"/>
              </a:spcBef>
              <a:spcAft>
                <a:spcPts val="1200"/>
              </a:spcAft>
              <a:buNone/>
            </a:pPr>
            <a:r>
              <a:t/>
            </a:r>
            <a:endParaRPr>
              <a:solidFill>
                <a:schemeClr val="dk1"/>
              </a:solidFill>
            </a:endParaRPr>
          </a:p>
        </p:txBody>
      </p:sp>
      <p:sp>
        <p:nvSpPr>
          <p:cNvPr id="96" name="Google Shape;96;p17"/>
          <p:cNvSpPr txBox="1"/>
          <p:nvPr>
            <p:ph type="title"/>
          </p:nvPr>
        </p:nvSpPr>
        <p:spPr>
          <a:xfrm>
            <a:off x="240700" y="4635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020">
                <a:solidFill>
                  <a:schemeClr val="lt1"/>
                </a:solidFill>
              </a:rPr>
              <a:t>Machine Learning Models</a:t>
            </a:r>
            <a:endParaRPr b="1" sz="3020">
              <a:solidFill>
                <a:schemeClr val="lt1"/>
              </a:solidFill>
            </a:endParaRPr>
          </a:p>
        </p:txBody>
      </p:sp>
      <p:pic>
        <p:nvPicPr>
          <p:cNvPr id="97" name="Google Shape;97;p17" title="GxJDzFKaAo3T1Uo_z35q7-CVDgTUKoqn9NHUkKZUFE1k_ha-6ErTlAlzvtpG_u7CzJ7NPll0xUMYf3vB9Y_pL95h2iv_rzBA-FD8iwCAtMrcj8Fz_4Datl2D7Kfp7LsxXe5mrnHnIzx-nRMXwrwYHV4CDr-5vU8zkpUHf8-4qh8.jpg"/>
          <p:cNvPicPr preferRelativeResize="0"/>
          <p:nvPr/>
        </p:nvPicPr>
        <p:blipFill>
          <a:blip r:embed="rId3">
            <a:alphaModFix/>
          </a:blip>
          <a:stretch>
            <a:fillRect/>
          </a:stretch>
        </p:blipFill>
        <p:spPr>
          <a:xfrm>
            <a:off x="4820076" y="118400"/>
            <a:ext cx="4193325" cy="2347876"/>
          </a:xfrm>
          <a:prstGeom prst="rect">
            <a:avLst/>
          </a:prstGeom>
          <a:noFill/>
          <a:ln>
            <a:noFill/>
          </a:ln>
        </p:spPr>
      </p:pic>
      <p:pic>
        <p:nvPicPr>
          <p:cNvPr id="98" name="Google Shape;98;p17" title="rFNAcpZOUcVVDBSH16fzYX6Hhuq41JEeoBmpXZUHXVrXznpdRRvxGPByB1MGTmoeJVSnZkDgdPUObV9kw2-n0WlwT7KkIqHbXH4ykFqRPPLV4vZs2FR-AW8Cgb2yb3tUapqusd_pvFQOVxazDjfzD7nWnZx2T_IVGKP1gsOyrUI.jpg"/>
          <p:cNvPicPr preferRelativeResize="0"/>
          <p:nvPr/>
        </p:nvPicPr>
        <p:blipFill>
          <a:blip r:embed="rId4">
            <a:alphaModFix/>
          </a:blip>
          <a:stretch>
            <a:fillRect/>
          </a:stretch>
        </p:blipFill>
        <p:spPr>
          <a:xfrm>
            <a:off x="5323200" y="2466275"/>
            <a:ext cx="3187075" cy="2390300"/>
          </a:xfrm>
          <a:prstGeom prst="rect">
            <a:avLst/>
          </a:prstGeom>
          <a:noFill/>
          <a:ln>
            <a:noFill/>
          </a:ln>
        </p:spPr>
      </p:pic>
      <p:pic>
        <p:nvPicPr>
          <p:cNvPr id="99" name="Google Shape;99;p17" title="8baJNlHl5H9qXWihkImhLvB9-xOianVe-nZ5sQTCn65icLb0OZGsw0wIixfNdG_VtO01w4TjXCaskAueLuzR6LC9GdDIXN_uTP97vsGbW1DSSZVMD9zGNEp1PcnUjsfMl20QjyO2zfPs-mIMVlxnFvi6jiIZsM5lW6NR1pCB4ic.jpg"/>
          <p:cNvPicPr preferRelativeResize="0"/>
          <p:nvPr/>
        </p:nvPicPr>
        <p:blipFill>
          <a:blip r:embed="rId5">
            <a:alphaModFix/>
          </a:blip>
          <a:stretch>
            <a:fillRect/>
          </a:stretch>
        </p:blipFill>
        <p:spPr>
          <a:xfrm>
            <a:off x="445313" y="2466275"/>
            <a:ext cx="3050350" cy="2287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3" name="Shape 103"/>
        <p:cNvGrpSpPr/>
        <p:nvPr/>
      </p:nvGrpSpPr>
      <p:grpSpPr>
        <a:xfrm>
          <a:off x="0" y="0"/>
          <a:ext cx="0" cy="0"/>
          <a:chOff x="0" y="0"/>
          <a:chExt cx="0" cy="0"/>
        </a:xfrm>
      </p:grpSpPr>
      <p:sp>
        <p:nvSpPr>
          <p:cNvPr id="104" name="Google Shape;104;p18"/>
          <p:cNvSpPr/>
          <p:nvPr/>
        </p:nvSpPr>
        <p:spPr>
          <a:xfrm>
            <a:off x="407850" y="1178250"/>
            <a:ext cx="5658600" cy="190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05" name="Google Shape;10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Accuracy → Overall Correctness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Precision → Correctness over positive predictions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Recall → ability to detect positives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F1-Score → balance of precision &amp; recall</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ROC-AUC → overall separability</a:t>
            </a:r>
            <a:endParaRPr>
              <a:solidFill>
                <a:srgbClr val="000000"/>
              </a:solidFill>
            </a:endParaRPr>
          </a:p>
        </p:txBody>
      </p:sp>
      <p:sp>
        <p:nvSpPr>
          <p:cNvPr id="106" name="Google Shape;10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solidFill>
                  <a:schemeClr val="lt1"/>
                </a:solidFill>
              </a:rPr>
              <a:t>Metrics</a:t>
            </a:r>
            <a:endParaRPr b="1" sz="3020">
              <a:solidFill>
                <a:schemeClr val="lt1"/>
              </a:solidFill>
            </a:endParaRPr>
          </a:p>
        </p:txBody>
      </p:sp>
      <p:pic>
        <p:nvPicPr>
          <p:cNvPr id="107" name="Google Shape;107;p18"/>
          <p:cNvPicPr preferRelativeResize="0"/>
          <p:nvPr/>
        </p:nvPicPr>
        <p:blipFill>
          <a:blip r:embed="rId3">
            <a:alphaModFix/>
          </a:blip>
          <a:stretch>
            <a:fillRect/>
          </a:stretch>
        </p:blipFill>
        <p:spPr>
          <a:xfrm>
            <a:off x="6160025" y="1046425"/>
            <a:ext cx="2893149" cy="2169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1" name="Shape 111"/>
        <p:cNvGrpSpPr/>
        <p:nvPr/>
      </p:nvGrpSpPr>
      <p:grpSpPr>
        <a:xfrm>
          <a:off x="0" y="0"/>
          <a:ext cx="0" cy="0"/>
          <a:chOff x="0" y="0"/>
          <a:chExt cx="0" cy="0"/>
        </a:xfrm>
      </p:grpSpPr>
      <p:sp>
        <p:nvSpPr>
          <p:cNvPr id="112" name="Google Shape;112;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solidFill>
                  <a:schemeClr val="lt1"/>
                </a:solidFill>
              </a:rPr>
              <a:t>Phishing</a:t>
            </a:r>
            <a:r>
              <a:rPr b="1" lang="en" sz="3020">
                <a:solidFill>
                  <a:schemeClr val="lt1"/>
                </a:solidFill>
              </a:rPr>
              <a:t> Results</a:t>
            </a:r>
            <a:endParaRPr b="1" sz="3020">
              <a:solidFill>
                <a:schemeClr val="lt1"/>
              </a:solidFill>
            </a:endParaRPr>
          </a:p>
        </p:txBody>
      </p:sp>
      <p:pic>
        <p:nvPicPr>
          <p:cNvPr id="113" name="Google Shape;113;p19"/>
          <p:cNvPicPr preferRelativeResize="0"/>
          <p:nvPr/>
        </p:nvPicPr>
        <p:blipFill>
          <a:blip r:embed="rId3">
            <a:alphaModFix/>
          </a:blip>
          <a:stretch>
            <a:fillRect/>
          </a:stretch>
        </p:blipFill>
        <p:spPr>
          <a:xfrm>
            <a:off x="5199198" y="1140475"/>
            <a:ext cx="3791725" cy="2824025"/>
          </a:xfrm>
          <a:prstGeom prst="rect">
            <a:avLst/>
          </a:prstGeom>
          <a:noFill/>
          <a:ln>
            <a:noFill/>
          </a:ln>
        </p:spPr>
      </p:pic>
      <p:sp>
        <p:nvSpPr>
          <p:cNvPr id="114" name="Google Shape;114;p19"/>
          <p:cNvSpPr/>
          <p:nvPr/>
        </p:nvSpPr>
        <p:spPr>
          <a:xfrm>
            <a:off x="357050" y="1140475"/>
            <a:ext cx="3683700" cy="2560800"/>
          </a:xfrm>
          <a:prstGeom prst="roundRect">
            <a:avLst>
              <a:gd fmla="val 16667" name="adj"/>
            </a:avLst>
          </a:prstGeom>
          <a:solidFill>
            <a:schemeClr val="lt2"/>
          </a:solidFill>
          <a:ln cap="flat" cmpd="sng" w="9325">
            <a:solidFill>
              <a:schemeClr val="dk2"/>
            </a:solidFill>
            <a:prstDash val="solid"/>
            <a:round/>
            <a:headEnd len="sm" w="sm" type="none"/>
            <a:tailEnd len="sm" w="sm" type="none"/>
          </a:ln>
        </p:spPr>
        <p:txBody>
          <a:bodyPr anchorCtr="0" anchor="ctr" bIns="89575" lIns="89575" spcFirstLastPara="1" rIns="89575" wrap="square" tIns="89575">
            <a:noAutofit/>
          </a:bodyPr>
          <a:lstStyle/>
          <a:p>
            <a:pPr indent="0" lvl="0" marL="0" rtl="0" algn="ctr">
              <a:spcBef>
                <a:spcPts val="0"/>
              </a:spcBef>
              <a:spcAft>
                <a:spcPts val="0"/>
              </a:spcAft>
              <a:buNone/>
            </a:pPr>
            <a:r>
              <a:t/>
            </a:r>
            <a:endParaRPr sz="1372">
              <a:latin typeface="Proxima Nova"/>
              <a:ea typeface="Proxima Nova"/>
              <a:cs typeface="Proxima Nova"/>
              <a:sym typeface="Proxima Nova"/>
            </a:endParaRPr>
          </a:p>
        </p:txBody>
      </p:sp>
      <p:sp>
        <p:nvSpPr>
          <p:cNvPr id="115" name="Google Shape;115;p19"/>
          <p:cNvSpPr txBox="1"/>
          <p:nvPr>
            <p:ph idx="1" type="body"/>
          </p:nvPr>
        </p:nvSpPr>
        <p:spPr>
          <a:xfrm>
            <a:off x="357050" y="1140475"/>
            <a:ext cx="3683700" cy="3359400"/>
          </a:xfrm>
          <a:prstGeom prst="rect">
            <a:avLst/>
          </a:prstGeom>
        </p:spPr>
        <p:txBody>
          <a:bodyPr anchorCtr="0" anchor="t" bIns="89575" lIns="89575" spcFirstLastPara="1" rIns="89575" wrap="square" tIns="89575">
            <a:normAutofit/>
          </a:bodyPr>
          <a:lstStyle/>
          <a:p>
            <a:pPr indent="-336007" lvl="0" marL="448009" rtl="0" algn="l">
              <a:spcBef>
                <a:spcPts val="0"/>
              </a:spcBef>
              <a:spcAft>
                <a:spcPts val="0"/>
              </a:spcAft>
              <a:buClr>
                <a:srgbClr val="000000"/>
              </a:buClr>
              <a:buSzPts val="1764"/>
              <a:buChar char="●"/>
            </a:pPr>
            <a:r>
              <a:rPr lang="en" sz="1764">
                <a:solidFill>
                  <a:srgbClr val="000000"/>
                </a:solidFill>
              </a:rPr>
              <a:t>All models Performed Well (~95% accuracy)</a:t>
            </a:r>
            <a:endParaRPr sz="1764">
              <a:solidFill>
                <a:srgbClr val="000000"/>
              </a:solidFill>
            </a:endParaRPr>
          </a:p>
          <a:p>
            <a:pPr indent="-336007" lvl="0" marL="448009" rtl="0" algn="l">
              <a:spcBef>
                <a:spcPts val="0"/>
              </a:spcBef>
              <a:spcAft>
                <a:spcPts val="0"/>
              </a:spcAft>
              <a:buClr>
                <a:srgbClr val="000000"/>
              </a:buClr>
              <a:buSzPts val="1764"/>
              <a:buChar char="●"/>
            </a:pPr>
            <a:r>
              <a:rPr lang="en" sz="1764">
                <a:solidFill>
                  <a:srgbClr val="000000"/>
                </a:solidFill>
              </a:rPr>
              <a:t>Decision Tree performed the best</a:t>
            </a:r>
            <a:endParaRPr sz="1764">
              <a:solidFill>
                <a:srgbClr val="000000"/>
              </a:solidFill>
            </a:endParaRPr>
          </a:p>
          <a:p>
            <a:pPr indent="-336007" lvl="0" marL="448009" rtl="0" algn="l">
              <a:spcBef>
                <a:spcPts val="0"/>
              </a:spcBef>
              <a:spcAft>
                <a:spcPts val="0"/>
              </a:spcAft>
              <a:buClr>
                <a:srgbClr val="000000"/>
              </a:buClr>
              <a:buSzPts val="1764"/>
              <a:buChar char="●"/>
            </a:pPr>
            <a:r>
              <a:rPr lang="en" sz="1764">
                <a:solidFill>
                  <a:srgbClr val="000000"/>
                </a:solidFill>
              </a:rPr>
              <a:t>Dataset was clean and easy to classify</a:t>
            </a:r>
            <a:endParaRPr sz="1764">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9" name="Shape 119"/>
        <p:cNvGrpSpPr/>
        <p:nvPr/>
      </p:nvGrpSpPr>
      <p:grpSpPr>
        <a:xfrm>
          <a:off x="0" y="0"/>
          <a:ext cx="0" cy="0"/>
          <a:chOff x="0" y="0"/>
          <a:chExt cx="0" cy="0"/>
        </a:xfrm>
      </p:grpSpPr>
      <p:sp>
        <p:nvSpPr>
          <p:cNvPr id="120" name="Google Shape;120;p20"/>
          <p:cNvSpPr/>
          <p:nvPr/>
        </p:nvSpPr>
        <p:spPr>
          <a:xfrm>
            <a:off x="311700" y="1152475"/>
            <a:ext cx="3510000" cy="2382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21" name="Google Shape;121;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solidFill>
                  <a:schemeClr val="lt1"/>
                </a:solidFill>
              </a:rPr>
              <a:t>Bank Dataset Results</a:t>
            </a:r>
            <a:endParaRPr b="1" sz="3020">
              <a:solidFill>
                <a:schemeClr val="lt1"/>
              </a:solidFill>
            </a:endParaRPr>
          </a:p>
        </p:txBody>
      </p:sp>
      <p:sp>
        <p:nvSpPr>
          <p:cNvPr id="122" name="Google Shape;122;p20"/>
          <p:cNvSpPr txBox="1"/>
          <p:nvPr>
            <p:ph idx="1" type="body"/>
          </p:nvPr>
        </p:nvSpPr>
        <p:spPr>
          <a:xfrm>
            <a:off x="221075" y="1152475"/>
            <a:ext cx="3766800" cy="2616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Dataset was </a:t>
            </a:r>
            <a:r>
              <a:rPr b="1" lang="en">
                <a:solidFill>
                  <a:srgbClr val="000000"/>
                </a:solidFill>
              </a:rPr>
              <a:t>imbalanced</a:t>
            </a:r>
            <a:endParaRPr b="1">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Decision Tree performed the best overall</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Logistic Regression missed many positive cases </a:t>
            </a:r>
            <a:r>
              <a:rPr b="1" lang="en">
                <a:solidFill>
                  <a:srgbClr val="000000"/>
                </a:solidFill>
              </a:rPr>
              <a:t>(Low Recall)</a:t>
            </a:r>
            <a:endParaRPr b="1">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KNN performed worse</a:t>
            </a:r>
            <a:endParaRPr>
              <a:solidFill>
                <a:srgbClr val="000000"/>
              </a:solidFill>
            </a:endParaRPr>
          </a:p>
        </p:txBody>
      </p:sp>
      <p:pic>
        <p:nvPicPr>
          <p:cNvPr id="123" name="Google Shape;123;p20"/>
          <p:cNvPicPr preferRelativeResize="0"/>
          <p:nvPr/>
        </p:nvPicPr>
        <p:blipFill>
          <a:blip r:embed="rId3">
            <a:alphaModFix/>
          </a:blip>
          <a:stretch>
            <a:fillRect/>
          </a:stretch>
        </p:blipFill>
        <p:spPr>
          <a:xfrm>
            <a:off x="4291500" y="1152475"/>
            <a:ext cx="4609799" cy="1832787"/>
          </a:xfrm>
          <a:prstGeom prst="rect">
            <a:avLst/>
          </a:prstGeom>
          <a:noFill/>
          <a:ln>
            <a:noFill/>
          </a:ln>
        </p:spPr>
      </p:pic>
      <p:pic>
        <p:nvPicPr>
          <p:cNvPr id="124" name="Google Shape;124;p20"/>
          <p:cNvPicPr preferRelativeResize="0"/>
          <p:nvPr/>
        </p:nvPicPr>
        <p:blipFill>
          <a:blip r:embed="rId4">
            <a:alphaModFix/>
          </a:blip>
          <a:stretch>
            <a:fillRect/>
          </a:stretch>
        </p:blipFill>
        <p:spPr>
          <a:xfrm>
            <a:off x="4755425" y="3123300"/>
            <a:ext cx="4076874" cy="1704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8" name="Shape 128"/>
        <p:cNvGrpSpPr/>
        <p:nvPr/>
      </p:nvGrpSpPr>
      <p:grpSpPr>
        <a:xfrm>
          <a:off x="0" y="0"/>
          <a:ext cx="0" cy="0"/>
          <a:chOff x="0" y="0"/>
          <a:chExt cx="0" cy="0"/>
        </a:xfrm>
      </p:grpSpPr>
      <p:sp>
        <p:nvSpPr>
          <p:cNvPr id="129" name="Google Shape;129;p21"/>
          <p:cNvSpPr/>
          <p:nvPr/>
        </p:nvSpPr>
        <p:spPr>
          <a:xfrm>
            <a:off x="294550" y="1208450"/>
            <a:ext cx="6095100" cy="1155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30" name="Google Shape;130;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solidFill>
                  <a:schemeClr val="lt1"/>
                </a:solidFill>
              </a:rPr>
              <a:t>Weather Dataset Results</a:t>
            </a:r>
            <a:endParaRPr b="1" sz="3020">
              <a:solidFill>
                <a:schemeClr val="lt1"/>
              </a:solidFill>
            </a:endParaRPr>
          </a:p>
        </p:txBody>
      </p:sp>
      <p:sp>
        <p:nvSpPr>
          <p:cNvPr id="131" name="Google Shape;131;p21"/>
          <p:cNvSpPr txBox="1"/>
          <p:nvPr>
            <p:ph idx="1" type="body"/>
          </p:nvPr>
        </p:nvSpPr>
        <p:spPr>
          <a:xfrm>
            <a:off x="311700" y="1152475"/>
            <a:ext cx="8389200" cy="1652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Decision Tree almost perfect (499/500 Correct)</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KNN Performed Well</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Logistic Regression struggled with rain cases</a:t>
            </a:r>
            <a:endParaRPr>
              <a:solidFill>
                <a:srgbClr val="000000"/>
              </a:solidFill>
            </a:endParaRPr>
          </a:p>
        </p:txBody>
      </p:sp>
      <p:pic>
        <p:nvPicPr>
          <p:cNvPr id="132" name="Google Shape;132;p21"/>
          <p:cNvPicPr preferRelativeResize="0"/>
          <p:nvPr/>
        </p:nvPicPr>
        <p:blipFill>
          <a:blip r:embed="rId3">
            <a:alphaModFix/>
          </a:blip>
          <a:stretch>
            <a:fillRect/>
          </a:stretch>
        </p:blipFill>
        <p:spPr>
          <a:xfrm>
            <a:off x="311700" y="2918875"/>
            <a:ext cx="8280075" cy="1429125"/>
          </a:xfrm>
          <a:prstGeom prst="rect">
            <a:avLst/>
          </a:prstGeom>
          <a:noFill/>
          <a:ln cap="flat" cmpd="sng" w="12700">
            <a:solidFill>
              <a:srgbClr val="000000"/>
            </a:solidFill>
            <a:prstDash val="solid"/>
            <a:miter lim="8000"/>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6" name="Shape 136"/>
        <p:cNvGrpSpPr/>
        <p:nvPr/>
      </p:nvGrpSpPr>
      <p:grpSpPr>
        <a:xfrm>
          <a:off x="0" y="0"/>
          <a:ext cx="0" cy="0"/>
          <a:chOff x="0" y="0"/>
          <a:chExt cx="0" cy="0"/>
        </a:xfrm>
      </p:grpSpPr>
      <p:sp>
        <p:nvSpPr>
          <p:cNvPr id="137" name="Google Shape;137;p22"/>
          <p:cNvSpPr/>
          <p:nvPr/>
        </p:nvSpPr>
        <p:spPr>
          <a:xfrm>
            <a:off x="311575" y="1152475"/>
            <a:ext cx="8520600" cy="312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38" name="Google Shape;13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74650" lvl="0" marL="457200" rtl="0" algn="l">
              <a:spcBef>
                <a:spcPts val="0"/>
              </a:spcBef>
              <a:spcAft>
                <a:spcPts val="0"/>
              </a:spcAft>
              <a:buClr>
                <a:srgbClr val="000000"/>
              </a:buClr>
              <a:buSzPts val="2300"/>
              <a:buChar char="●"/>
            </a:pPr>
            <a:r>
              <a:rPr lang="en" sz="2300">
                <a:solidFill>
                  <a:srgbClr val="000000"/>
                </a:solidFill>
              </a:rPr>
              <a:t>Used GridSearchCV</a:t>
            </a:r>
            <a:endParaRPr sz="2300">
              <a:solidFill>
                <a:srgbClr val="000000"/>
              </a:solidFill>
            </a:endParaRPr>
          </a:p>
          <a:p>
            <a:pPr indent="-374650" lvl="0" marL="457200" rtl="0" algn="l">
              <a:spcBef>
                <a:spcPts val="0"/>
              </a:spcBef>
              <a:spcAft>
                <a:spcPts val="0"/>
              </a:spcAft>
              <a:buClr>
                <a:srgbClr val="000000"/>
              </a:buClr>
              <a:buSzPts val="2300"/>
              <a:buChar char="●"/>
            </a:pPr>
            <a:r>
              <a:rPr lang="en" sz="2300">
                <a:solidFill>
                  <a:srgbClr val="000000"/>
                </a:solidFill>
              </a:rPr>
              <a:t>Decision Tree Improved significantly → Reduced Overfitting</a:t>
            </a:r>
            <a:endParaRPr sz="2300">
              <a:solidFill>
                <a:srgbClr val="000000"/>
              </a:solidFill>
            </a:endParaRPr>
          </a:p>
          <a:p>
            <a:pPr indent="-349250" lvl="1" marL="914400" rtl="0" algn="l">
              <a:spcBef>
                <a:spcPts val="0"/>
              </a:spcBef>
              <a:spcAft>
                <a:spcPts val="0"/>
              </a:spcAft>
              <a:buClr>
                <a:srgbClr val="000000"/>
              </a:buClr>
              <a:buSzPts val="1900"/>
              <a:buChar char="○"/>
            </a:pPr>
            <a:r>
              <a:rPr lang="en" sz="1900">
                <a:solidFill>
                  <a:srgbClr val="000000"/>
                </a:solidFill>
              </a:rPr>
              <a:t>Non-Linear Relationships → Decision Tree Advantage</a:t>
            </a:r>
            <a:endParaRPr sz="1900">
              <a:solidFill>
                <a:srgbClr val="000000"/>
              </a:solidFill>
            </a:endParaRPr>
          </a:p>
          <a:p>
            <a:pPr indent="-374650" lvl="0" marL="457200" rtl="0" algn="l">
              <a:spcBef>
                <a:spcPts val="0"/>
              </a:spcBef>
              <a:spcAft>
                <a:spcPts val="0"/>
              </a:spcAft>
              <a:buClr>
                <a:srgbClr val="000000"/>
              </a:buClr>
              <a:buSzPts val="2300"/>
              <a:buChar char="●"/>
            </a:pPr>
            <a:r>
              <a:rPr lang="en" sz="2300">
                <a:solidFill>
                  <a:srgbClr val="000000"/>
                </a:solidFill>
              </a:rPr>
              <a:t>Logistic Regression showed little change → Already well optimized</a:t>
            </a:r>
            <a:endParaRPr sz="2300">
              <a:solidFill>
                <a:srgbClr val="000000"/>
              </a:solidFill>
            </a:endParaRPr>
          </a:p>
          <a:p>
            <a:pPr indent="-374650" lvl="0" marL="457200" rtl="0" algn="l">
              <a:spcBef>
                <a:spcPts val="0"/>
              </a:spcBef>
              <a:spcAft>
                <a:spcPts val="0"/>
              </a:spcAft>
              <a:buClr>
                <a:srgbClr val="000000"/>
              </a:buClr>
              <a:buSzPts val="2300"/>
              <a:buChar char="●"/>
            </a:pPr>
            <a:r>
              <a:rPr lang="en" sz="2300">
                <a:solidFill>
                  <a:srgbClr val="000000"/>
                </a:solidFill>
              </a:rPr>
              <a:t>KNN → Sensitive to parameter changes</a:t>
            </a:r>
            <a:endParaRPr sz="3000">
              <a:solidFill>
                <a:srgbClr val="000000"/>
              </a:solidFill>
            </a:endParaRPr>
          </a:p>
        </p:txBody>
      </p:sp>
      <p:sp>
        <p:nvSpPr>
          <p:cNvPr id="139" name="Google Shape;13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solidFill>
                  <a:schemeClr val="lt1"/>
                </a:solidFill>
              </a:rPr>
              <a:t>Model Optimization</a:t>
            </a:r>
            <a:endParaRPr b="1" sz="302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3" name="Shape 143"/>
        <p:cNvGrpSpPr/>
        <p:nvPr/>
      </p:nvGrpSpPr>
      <p:grpSpPr>
        <a:xfrm>
          <a:off x="0" y="0"/>
          <a:ext cx="0" cy="0"/>
          <a:chOff x="0" y="0"/>
          <a:chExt cx="0" cy="0"/>
        </a:xfrm>
      </p:grpSpPr>
      <p:sp>
        <p:nvSpPr>
          <p:cNvPr id="144" name="Google Shape;144;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solidFill>
                  <a:schemeClr val="lt1"/>
                </a:solidFill>
              </a:rPr>
              <a:t>Model Comparison</a:t>
            </a:r>
            <a:endParaRPr b="1" sz="3020">
              <a:solidFill>
                <a:schemeClr val="lt1"/>
              </a:solidFill>
            </a:endParaRPr>
          </a:p>
        </p:txBody>
      </p:sp>
      <p:sp>
        <p:nvSpPr>
          <p:cNvPr id="145" name="Google Shape;145;p23"/>
          <p:cNvSpPr/>
          <p:nvPr/>
        </p:nvSpPr>
        <p:spPr>
          <a:xfrm>
            <a:off x="872100" y="1207050"/>
            <a:ext cx="7399800" cy="34869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cxnSp>
        <p:nvCxnSpPr>
          <p:cNvPr id="146" name="Google Shape;146;p23"/>
          <p:cNvCxnSpPr/>
          <p:nvPr/>
        </p:nvCxnSpPr>
        <p:spPr>
          <a:xfrm>
            <a:off x="875650" y="1822325"/>
            <a:ext cx="7391700" cy="0"/>
          </a:xfrm>
          <a:prstGeom prst="straightConnector1">
            <a:avLst/>
          </a:prstGeom>
          <a:noFill/>
          <a:ln cap="flat" cmpd="sng" w="9525">
            <a:solidFill>
              <a:schemeClr val="dk2"/>
            </a:solidFill>
            <a:prstDash val="solid"/>
            <a:round/>
            <a:headEnd len="med" w="med" type="none"/>
            <a:tailEnd len="med" w="med" type="none"/>
          </a:ln>
        </p:spPr>
      </p:cxnSp>
      <p:cxnSp>
        <p:nvCxnSpPr>
          <p:cNvPr id="147" name="Google Shape;147;p23"/>
          <p:cNvCxnSpPr/>
          <p:nvPr/>
        </p:nvCxnSpPr>
        <p:spPr>
          <a:xfrm flipH="1">
            <a:off x="5790475" y="1215000"/>
            <a:ext cx="7800" cy="3471000"/>
          </a:xfrm>
          <a:prstGeom prst="straightConnector1">
            <a:avLst/>
          </a:prstGeom>
          <a:noFill/>
          <a:ln cap="flat" cmpd="sng" w="9525">
            <a:solidFill>
              <a:schemeClr val="dk2"/>
            </a:solidFill>
            <a:prstDash val="solid"/>
            <a:round/>
            <a:headEnd len="med" w="med" type="none"/>
            <a:tailEnd len="med" w="med" type="none"/>
          </a:ln>
        </p:spPr>
      </p:cxnSp>
      <p:cxnSp>
        <p:nvCxnSpPr>
          <p:cNvPr id="148" name="Google Shape;148;p23"/>
          <p:cNvCxnSpPr/>
          <p:nvPr/>
        </p:nvCxnSpPr>
        <p:spPr>
          <a:xfrm flipH="1">
            <a:off x="3139650" y="1207050"/>
            <a:ext cx="10500" cy="3486900"/>
          </a:xfrm>
          <a:prstGeom prst="straightConnector1">
            <a:avLst/>
          </a:prstGeom>
          <a:noFill/>
          <a:ln cap="flat" cmpd="sng" w="9525">
            <a:solidFill>
              <a:schemeClr val="dk2"/>
            </a:solidFill>
            <a:prstDash val="solid"/>
            <a:round/>
            <a:headEnd len="med" w="med" type="none"/>
            <a:tailEnd len="med" w="med" type="none"/>
          </a:ln>
        </p:spPr>
      </p:cxnSp>
      <p:cxnSp>
        <p:nvCxnSpPr>
          <p:cNvPr id="149" name="Google Shape;149;p23"/>
          <p:cNvCxnSpPr/>
          <p:nvPr/>
        </p:nvCxnSpPr>
        <p:spPr>
          <a:xfrm>
            <a:off x="872100" y="2716250"/>
            <a:ext cx="7391700" cy="0"/>
          </a:xfrm>
          <a:prstGeom prst="straightConnector1">
            <a:avLst/>
          </a:prstGeom>
          <a:noFill/>
          <a:ln cap="flat" cmpd="sng" w="9525">
            <a:solidFill>
              <a:schemeClr val="dk2"/>
            </a:solidFill>
            <a:prstDash val="solid"/>
            <a:round/>
            <a:headEnd len="med" w="med" type="none"/>
            <a:tailEnd len="med" w="med" type="none"/>
          </a:ln>
        </p:spPr>
      </p:cxnSp>
      <p:cxnSp>
        <p:nvCxnSpPr>
          <p:cNvPr id="150" name="Google Shape;150;p23"/>
          <p:cNvCxnSpPr/>
          <p:nvPr/>
        </p:nvCxnSpPr>
        <p:spPr>
          <a:xfrm>
            <a:off x="872100" y="3728550"/>
            <a:ext cx="7391700" cy="0"/>
          </a:xfrm>
          <a:prstGeom prst="straightConnector1">
            <a:avLst/>
          </a:prstGeom>
          <a:noFill/>
          <a:ln cap="flat" cmpd="sng" w="9525">
            <a:solidFill>
              <a:schemeClr val="dk2"/>
            </a:solidFill>
            <a:prstDash val="solid"/>
            <a:round/>
            <a:headEnd len="med" w="med" type="none"/>
            <a:tailEnd len="med" w="med" type="none"/>
          </a:ln>
        </p:spPr>
      </p:cxnSp>
      <p:sp>
        <p:nvSpPr>
          <p:cNvPr id="151" name="Google Shape;151;p23"/>
          <p:cNvSpPr txBox="1"/>
          <p:nvPr/>
        </p:nvSpPr>
        <p:spPr>
          <a:xfrm>
            <a:off x="1104425" y="1356850"/>
            <a:ext cx="1806600" cy="34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Proxima Nova"/>
                <a:ea typeface="Proxima Nova"/>
                <a:cs typeface="Proxima Nova"/>
                <a:sym typeface="Proxima Nova"/>
              </a:rPr>
              <a:t>Model</a:t>
            </a:r>
            <a:endParaRPr b="1" sz="1800">
              <a:solidFill>
                <a:schemeClr val="dk1"/>
              </a:solidFill>
              <a:latin typeface="Proxima Nova"/>
              <a:ea typeface="Proxima Nova"/>
              <a:cs typeface="Proxima Nova"/>
              <a:sym typeface="Proxima Nova"/>
            </a:endParaRPr>
          </a:p>
        </p:txBody>
      </p:sp>
      <p:sp>
        <p:nvSpPr>
          <p:cNvPr id="152" name="Google Shape;152;p23"/>
          <p:cNvSpPr txBox="1"/>
          <p:nvPr/>
        </p:nvSpPr>
        <p:spPr>
          <a:xfrm>
            <a:off x="3567000" y="1317400"/>
            <a:ext cx="1806600" cy="34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Proxima Nova"/>
                <a:ea typeface="Proxima Nova"/>
                <a:cs typeface="Proxima Nova"/>
                <a:sym typeface="Proxima Nova"/>
              </a:rPr>
              <a:t>Strengths</a:t>
            </a:r>
            <a:endParaRPr b="1" sz="1800">
              <a:solidFill>
                <a:schemeClr val="dk1"/>
              </a:solidFill>
              <a:latin typeface="Proxima Nova"/>
              <a:ea typeface="Proxima Nova"/>
              <a:cs typeface="Proxima Nova"/>
              <a:sym typeface="Proxima Nova"/>
            </a:endParaRPr>
          </a:p>
        </p:txBody>
      </p:sp>
      <p:sp>
        <p:nvSpPr>
          <p:cNvPr id="153" name="Google Shape;153;p23"/>
          <p:cNvSpPr txBox="1"/>
          <p:nvPr/>
        </p:nvSpPr>
        <p:spPr>
          <a:xfrm>
            <a:off x="6123750" y="1321275"/>
            <a:ext cx="1806600" cy="34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Proxima Nova"/>
                <a:ea typeface="Proxima Nova"/>
                <a:cs typeface="Proxima Nova"/>
                <a:sym typeface="Proxima Nova"/>
              </a:rPr>
              <a:t>Weaknesses</a:t>
            </a:r>
            <a:endParaRPr b="1" sz="1800">
              <a:solidFill>
                <a:schemeClr val="dk1"/>
              </a:solidFill>
              <a:latin typeface="Proxima Nova"/>
              <a:ea typeface="Proxima Nova"/>
              <a:cs typeface="Proxima Nova"/>
              <a:sym typeface="Proxima Nova"/>
            </a:endParaRPr>
          </a:p>
        </p:txBody>
      </p:sp>
      <p:sp>
        <p:nvSpPr>
          <p:cNvPr id="154" name="Google Shape;154;p23"/>
          <p:cNvSpPr txBox="1"/>
          <p:nvPr/>
        </p:nvSpPr>
        <p:spPr>
          <a:xfrm>
            <a:off x="916175" y="1983350"/>
            <a:ext cx="2035200" cy="67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Proxima Nova"/>
                <a:ea typeface="Proxima Nova"/>
                <a:cs typeface="Proxima Nova"/>
                <a:sym typeface="Proxima Nova"/>
              </a:rPr>
              <a:t>Decision Tree</a:t>
            </a:r>
            <a:endParaRPr b="1" sz="1800">
              <a:solidFill>
                <a:schemeClr val="dk1"/>
              </a:solidFill>
              <a:latin typeface="Proxima Nova"/>
              <a:ea typeface="Proxima Nova"/>
              <a:cs typeface="Proxima Nova"/>
              <a:sym typeface="Proxima Nova"/>
            </a:endParaRPr>
          </a:p>
        </p:txBody>
      </p:sp>
      <p:sp>
        <p:nvSpPr>
          <p:cNvPr id="155" name="Google Shape;155;p23"/>
          <p:cNvSpPr txBox="1"/>
          <p:nvPr/>
        </p:nvSpPr>
        <p:spPr>
          <a:xfrm>
            <a:off x="916175" y="2814875"/>
            <a:ext cx="2035200" cy="670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Proxima Nova"/>
                <a:ea typeface="Proxima Nova"/>
                <a:cs typeface="Proxima Nova"/>
                <a:sym typeface="Proxima Nova"/>
              </a:rPr>
              <a:t>KNN</a:t>
            </a:r>
            <a:endParaRPr b="1" sz="1800">
              <a:solidFill>
                <a:schemeClr val="dk1"/>
              </a:solidFill>
              <a:latin typeface="Proxima Nova"/>
              <a:ea typeface="Proxima Nova"/>
              <a:cs typeface="Proxima Nova"/>
              <a:sym typeface="Proxima Nova"/>
            </a:endParaRPr>
          </a:p>
        </p:txBody>
      </p:sp>
      <p:sp>
        <p:nvSpPr>
          <p:cNvPr id="156" name="Google Shape;156;p23"/>
          <p:cNvSpPr txBox="1"/>
          <p:nvPr/>
        </p:nvSpPr>
        <p:spPr>
          <a:xfrm>
            <a:off x="916175" y="3817825"/>
            <a:ext cx="2035200" cy="67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Proxima Nova"/>
                <a:ea typeface="Proxima Nova"/>
                <a:cs typeface="Proxima Nova"/>
                <a:sym typeface="Proxima Nova"/>
              </a:rPr>
              <a:t>Logistic Regression</a:t>
            </a:r>
            <a:endParaRPr b="1" sz="1800">
              <a:solidFill>
                <a:schemeClr val="dk1"/>
              </a:solidFill>
              <a:latin typeface="Proxima Nova"/>
              <a:ea typeface="Proxima Nova"/>
              <a:cs typeface="Proxima Nova"/>
              <a:sym typeface="Proxima Nova"/>
            </a:endParaRPr>
          </a:p>
        </p:txBody>
      </p:sp>
      <p:sp>
        <p:nvSpPr>
          <p:cNvPr id="157" name="Google Shape;157;p23"/>
          <p:cNvSpPr txBox="1"/>
          <p:nvPr/>
        </p:nvSpPr>
        <p:spPr>
          <a:xfrm>
            <a:off x="3202813" y="1775088"/>
            <a:ext cx="2535000" cy="8700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Handles non-linear Patterns</a:t>
            </a:r>
            <a:endParaRPr sz="1300">
              <a:solidFill>
                <a:schemeClr val="dk1"/>
              </a:solidFill>
              <a:latin typeface="Proxima Nova"/>
              <a:ea typeface="Proxima Nova"/>
              <a:cs typeface="Proxima Nova"/>
              <a:sym typeface="Proxima Nova"/>
            </a:endParaRPr>
          </a:p>
          <a:p>
            <a:pPr indent="-311150" lvl="0" marL="457200" rtl="0" algn="l">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Works well across datasets</a:t>
            </a:r>
            <a:endParaRPr sz="1300">
              <a:solidFill>
                <a:schemeClr val="dk1"/>
              </a:solidFill>
              <a:latin typeface="Proxima Nova"/>
              <a:ea typeface="Proxima Nova"/>
              <a:cs typeface="Proxima Nova"/>
              <a:sym typeface="Proxima Nova"/>
            </a:endParaRPr>
          </a:p>
        </p:txBody>
      </p:sp>
      <p:sp>
        <p:nvSpPr>
          <p:cNvPr id="158" name="Google Shape;158;p23"/>
          <p:cNvSpPr txBox="1"/>
          <p:nvPr/>
        </p:nvSpPr>
        <p:spPr>
          <a:xfrm>
            <a:off x="3202800" y="2787388"/>
            <a:ext cx="2535000" cy="8700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Strong on clean, balanced data</a:t>
            </a:r>
            <a:endParaRPr sz="1300">
              <a:solidFill>
                <a:schemeClr val="dk1"/>
              </a:solidFill>
              <a:latin typeface="Proxima Nova"/>
              <a:ea typeface="Proxima Nova"/>
              <a:cs typeface="Proxima Nova"/>
              <a:sym typeface="Proxima Nova"/>
            </a:endParaRPr>
          </a:p>
          <a:p>
            <a:pPr indent="-311150" lvl="0" marL="457200" rtl="0" algn="l">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No assumptions about data</a:t>
            </a:r>
            <a:endParaRPr sz="1300">
              <a:solidFill>
                <a:schemeClr val="dk1"/>
              </a:solidFill>
              <a:latin typeface="Proxima Nova"/>
              <a:ea typeface="Proxima Nova"/>
              <a:cs typeface="Proxima Nova"/>
              <a:sym typeface="Proxima Nova"/>
            </a:endParaRPr>
          </a:p>
        </p:txBody>
      </p:sp>
      <p:sp>
        <p:nvSpPr>
          <p:cNvPr id="159" name="Google Shape;159;p23"/>
          <p:cNvSpPr txBox="1"/>
          <p:nvPr/>
        </p:nvSpPr>
        <p:spPr>
          <a:xfrm>
            <a:off x="3202813" y="3799688"/>
            <a:ext cx="2535000" cy="8700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Simple and stable baseline</a:t>
            </a:r>
            <a:endParaRPr sz="1300">
              <a:solidFill>
                <a:schemeClr val="dk1"/>
              </a:solidFill>
              <a:latin typeface="Proxima Nova"/>
              <a:ea typeface="Proxima Nova"/>
              <a:cs typeface="Proxima Nova"/>
              <a:sym typeface="Proxima Nova"/>
            </a:endParaRPr>
          </a:p>
          <a:p>
            <a:pPr indent="-311150" lvl="0" marL="457200" rtl="0" algn="l">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Fast and interpretable</a:t>
            </a:r>
            <a:endParaRPr sz="1300">
              <a:solidFill>
                <a:schemeClr val="dk1"/>
              </a:solidFill>
              <a:latin typeface="Proxima Nova"/>
              <a:ea typeface="Proxima Nova"/>
              <a:cs typeface="Proxima Nova"/>
              <a:sym typeface="Proxima Nova"/>
            </a:endParaRPr>
          </a:p>
        </p:txBody>
      </p:sp>
      <p:sp>
        <p:nvSpPr>
          <p:cNvPr id="160" name="Google Shape;160;p23"/>
          <p:cNvSpPr txBox="1"/>
          <p:nvPr/>
        </p:nvSpPr>
        <p:spPr>
          <a:xfrm>
            <a:off x="5790500" y="1775100"/>
            <a:ext cx="2473200" cy="8700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Can overfit if too complex</a:t>
            </a:r>
            <a:endParaRPr sz="1300">
              <a:solidFill>
                <a:schemeClr val="dk1"/>
              </a:solidFill>
              <a:latin typeface="Proxima Nova"/>
              <a:ea typeface="Proxima Nova"/>
              <a:cs typeface="Proxima Nova"/>
              <a:sym typeface="Proxima Nova"/>
            </a:endParaRPr>
          </a:p>
        </p:txBody>
      </p:sp>
      <p:sp>
        <p:nvSpPr>
          <p:cNvPr id="161" name="Google Shape;161;p23"/>
          <p:cNvSpPr txBox="1"/>
          <p:nvPr/>
        </p:nvSpPr>
        <p:spPr>
          <a:xfrm>
            <a:off x="5790450" y="2751825"/>
            <a:ext cx="2473200" cy="8700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Struggles with </a:t>
            </a:r>
            <a:r>
              <a:rPr lang="en" sz="1300">
                <a:solidFill>
                  <a:schemeClr val="dk1"/>
                </a:solidFill>
                <a:latin typeface="Proxima Nova"/>
                <a:ea typeface="Proxima Nova"/>
                <a:cs typeface="Proxima Nova"/>
                <a:sym typeface="Proxima Nova"/>
              </a:rPr>
              <a:t>imbalance</a:t>
            </a:r>
            <a:r>
              <a:rPr lang="en" sz="1300">
                <a:solidFill>
                  <a:schemeClr val="dk1"/>
                </a:solidFill>
                <a:latin typeface="Proxima Nova"/>
                <a:ea typeface="Proxima Nova"/>
                <a:cs typeface="Proxima Nova"/>
                <a:sym typeface="Proxima Nova"/>
              </a:rPr>
              <a:t> data</a:t>
            </a:r>
            <a:endParaRPr sz="1300">
              <a:solidFill>
                <a:schemeClr val="dk1"/>
              </a:solidFill>
              <a:latin typeface="Proxima Nova"/>
              <a:ea typeface="Proxima Nova"/>
              <a:cs typeface="Proxima Nova"/>
              <a:sym typeface="Proxima Nova"/>
            </a:endParaRPr>
          </a:p>
          <a:p>
            <a:pPr indent="-311150" lvl="0" marL="457200" rtl="0" algn="l">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Sensitive to scaling</a:t>
            </a:r>
            <a:endParaRPr sz="1300">
              <a:solidFill>
                <a:schemeClr val="dk1"/>
              </a:solidFill>
              <a:latin typeface="Proxima Nova"/>
              <a:ea typeface="Proxima Nova"/>
              <a:cs typeface="Proxima Nova"/>
              <a:sym typeface="Proxima Nova"/>
            </a:endParaRPr>
          </a:p>
        </p:txBody>
      </p:sp>
      <p:sp>
        <p:nvSpPr>
          <p:cNvPr id="162" name="Google Shape;162;p23"/>
          <p:cNvSpPr txBox="1"/>
          <p:nvPr/>
        </p:nvSpPr>
        <p:spPr>
          <a:xfrm>
            <a:off x="5790500" y="3799700"/>
            <a:ext cx="2473200" cy="8700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Limited to linear relationships</a:t>
            </a:r>
            <a:endParaRPr sz="1300">
              <a:solidFill>
                <a:schemeClr val="dk1"/>
              </a:solidFill>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6" name="Shape 166"/>
        <p:cNvGrpSpPr/>
        <p:nvPr/>
      </p:nvGrpSpPr>
      <p:grpSpPr>
        <a:xfrm>
          <a:off x="0" y="0"/>
          <a:ext cx="0" cy="0"/>
          <a:chOff x="0" y="0"/>
          <a:chExt cx="0" cy="0"/>
        </a:xfrm>
      </p:grpSpPr>
      <p:sp>
        <p:nvSpPr>
          <p:cNvPr id="167" name="Google Shape;167;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solidFill>
                  <a:schemeClr val="lt1"/>
                </a:solidFill>
              </a:rPr>
              <a:t>Comparison with Prior Work</a:t>
            </a:r>
            <a:endParaRPr b="1" sz="3020">
              <a:solidFill>
                <a:schemeClr val="lt1"/>
              </a:solidFill>
            </a:endParaRPr>
          </a:p>
        </p:txBody>
      </p:sp>
      <p:sp>
        <p:nvSpPr>
          <p:cNvPr id="168" name="Google Shape;168;p24"/>
          <p:cNvSpPr/>
          <p:nvPr/>
        </p:nvSpPr>
        <p:spPr>
          <a:xfrm>
            <a:off x="872100" y="1207050"/>
            <a:ext cx="7399800" cy="34869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cxnSp>
        <p:nvCxnSpPr>
          <p:cNvPr id="169" name="Google Shape;169;p24"/>
          <p:cNvCxnSpPr>
            <a:stCxn id="168" idx="0"/>
            <a:endCxn id="168" idx="2"/>
          </p:cNvCxnSpPr>
          <p:nvPr/>
        </p:nvCxnSpPr>
        <p:spPr>
          <a:xfrm>
            <a:off x="4572000" y="1207050"/>
            <a:ext cx="0" cy="3486900"/>
          </a:xfrm>
          <a:prstGeom prst="straightConnector1">
            <a:avLst/>
          </a:prstGeom>
          <a:noFill/>
          <a:ln cap="flat" cmpd="sng" w="9525">
            <a:solidFill>
              <a:schemeClr val="dk2"/>
            </a:solidFill>
            <a:prstDash val="solid"/>
            <a:round/>
            <a:headEnd len="med" w="med" type="none"/>
            <a:tailEnd len="med" w="med" type="none"/>
          </a:ln>
        </p:spPr>
      </p:cxnSp>
      <p:cxnSp>
        <p:nvCxnSpPr>
          <p:cNvPr id="170" name="Google Shape;170;p24"/>
          <p:cNvCxnSpPr/>
          <p:nvPr/>
        </p:nvCxnSpPr>
        <p:spPr>
          <a:xfrm>
            <a:off x="872100" y="2757063"/>
            <a:ext cx="7399800" cy="0"/>
          </a:xfrm>
          <a:prstGeom prst="straightConnector1">
            <a:avLst/>
          </a:prstGeom>
          <a:noFill/>
          <a:ln cap="flat" cmpd="sng" w="9525">
            <a:solidFill>
              <a:schemeClr val="dk2"/>
            </a:solidFill>
            <a:prstDash val="solid"/>
            <a:round/>
            <a:headEnd len="med" w="med" type="none"/>
            <a:tailEnd len="med" w="med" type="none"/>
          </a:ln>
        </p:spPr>
      </p:cxnSp>
      <p:cxnSp>
        <p:nvCxnSpPr>
          <p:cNvPr id="171" name="Google Shape;171;p24"/>
          <p:cNvCxnSpPr/>
          <p:nvPr/>
        </p:nvCxnSpPr>
        <p:spPr>
          <a:xfrm>
            <a:off x="872100" y="3599900"/>
            <a:ext cx="7399800" cy="0"/>
          </a:xfrm>
          <a:prstGeom prst="straightConnector1">
            <a:avLst/>
          </a:prstGeom>
          <a:noFill/>
          <a:ln cap="flat" cmpd="sng" w="9525">
            <a:solidFill>
              <a:schemeClr val="dk2"/>
            </a:solidFill>
            <a:prstDash val="solid"/>
            <a:round/>
            <a:headEnd len="med" w="med" type="none"/>
            <a:tailEnd len="med" w="med" type="none"/>
          </a:ln>
        </p:spPr>
      </p:cxnSp>
      <p:cxnSp>
        <p:nvCxnSpPr>
          <p:cNvPr id="172" name="Google Shape;172;p24"/>
          <p:cNvCxnSpPr/>
          <p:nvPr/>
        </p:nvCxnSpPr>
        <p:spPr>
          <a:xfrm>
            <a:off x="872100" y="1914225"/>
            <a:ext cx="7399800" cy="0"/>
          </a:xfrm>
          <a:prstGeom prst="straightConnector1">
            <a:avLst/>
          </a:prstGeom>
          <a:noFill/>
          <a:ln cap="flat" cmpd="sng" w="9525">
            <a:solidFill>
              <a:schemeClr val="dk2"/>
            </a:solidFill>
            <a:prstDash val="solid"/>
            <a:round/>
            <a:headEnd len="med" w="med" type="none"/>
            <a:tailEnd len="med" w="med" type="none"/>
          </a:ln>
        </p:spPr>
      </p:cxnSp>
      <p:sp>
        <p:nvSpPr>
          <p:cNvPr id="173" name="Google Shape;173;p24"/>
          <p:cNvSpPr txBox="1"/>
          <p:nvPr/>
        </p:nvSpPr>
        <p:spPr>
          <a:xfrm>
            <a:off x="1475200" y="1388425"/>
            <a:ext cx="2493000" cy="38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roxima Nova"/>
                <a:ea typeface="Proxima Nova"/>
                <a:cs typeface="Proxima Nova"/>
                <a:sym typeface="Proxima Nova"/>
              </a:rPr>
              <a:t>Our Work</a:t>
            </a:r>
            <a:endParaRPr b="1" sz="1800">
              <a:latin typeface="Proxima Nova"/>
              <a:ea typeface="Proxima Nova"/>
              <a:cs typeface="Proxima Nova"/>
              <a:sym typeface="Proxima Nova"/>
            </a:endParaRPr>
          </a:p>
        </p:txBody>
      </p:sp>
      <p:sp>
        <p:nvSpPr>
          <p:cNvPr id="174" name="Google Shape;174;p24"/>
          <p:cNvSpPr txBox="1"/>
          <p:nvPr/>
        </p:nvSpPr>
        <p:spPr>
          <a:xfrm>
            <a:off x="5011875" y="1388425"/>
            <a:ext cx="2493000" cy="38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roxima Nova"/>
                <a:ea typeface="Proxima Nova"/>
                <a:cs typeface="Proxima Nova"/>
                <a:sym typeface="Proxima Nova"/>
              </a:rPr>
              <a:t>Prior Work</a:t>
            </a:r>
            <a:endParaRPr b="1" sz="1800">
              <a:latin typeface="Proxima Nova"/>
              <a:ea typeface="Proxima Nova"/>
              <a:cs typeface="Proxima Nova"/>
              <a:sym typeface="Proxima Nova"/>
            </a:endParaRPr>
          </a:p>
        </p:txBody>
      </p:sp>
      <p:sp>
        <p:nvSpPr>
          <p:cNvPr id="175" name="Google Shape;175;p24"/>
          <p:cNvSpPr txBox="1"/>
          <p:nvPr/>
        </p:nvSpPr>
        <p:spPr>
          <a:xfrm>
            <a:off x="1475200" y="2201608"/>
            <a:ext cx="2493000" cy="38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Proxima Nova"/>
                <a:ea typeface="Proxima Nova"/>
                <a:cs typeface="Proxima Nova"/>
                <a:sym typeface="Proxima Nova"/>
              </a:rPr>
              <a:t>Basic Models</a:t>
            </a:r>
            <a:endParaRPr b="1" sz="1800">
              <a:solidFill>
                <a:schemeClr val="dk1"/>
              </a:solidFill>
              <a:latin typeface="Proxima Nova"/>
              <a:ea typeface="Proxima Nova"/>
              <a:cs typeface="Proxima Nova"/>
              <a:sym typeface="Proxima Nova"/>
            </a:endParaRPr>
          </a:p>
        </p:txBody>
      </p:sp>
      <p:sp>
        <p:nvSpPr>
          <p:cNvPr id="176" name="Google Shape;176;p24"/>
          <p:cNvSpPr txBox="1"/>
          <p:nvPr/>
        </p:nvSpPr>
        <p:spPr>
          <a:xfrm>
            <a:off x="1475200" y="3014792"/>
            <a:ext cx="2493000" cy="38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Proxima Nova"/>
                <a:ea typeface="Proxima Nova"/>
                <a:cs typeface="Proxima Nova"/>
                <a:sym typeface="Proxima Nova"/>
              </a:rPr>
              <a:t>Train / Test Split</a:t>
            </a:r>
            <a:endParaRPr b="1" sz="1800">
              <a:solidFill>
                <a:schemeClr val="dk1"/>
              </a:solidFill>
              <a:latin typeface="Proxima Nova"/>
              <a:ea typeface="Proxima Nova"/>
              <a:cs typeface="Proxima Nova"/>
              <a:sym typeface="Proxima Nova"/>
            </a:endParaRPr>
          </a:p>
        </p:txBody>
      </p:sp>
      <p:sp>
        <p:nvSpPr>
          <p:cNvPr id="177" name="Google Shape;177;p24"/>
          <p:cNvSpPr txBox="1"/>
          <p:nvPr/>
        </p:nvSpPr>
        <p:spPr>
          <a:xfrm>
            <a:off x="1475200" y="3827975"/>
            <a:ext cx="2493000" cy="38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Proxima Nova"/>
                <a:ea typeface="Proxima Nova"/>
                <a:cs typeface="Proxima Nova"/>
                <a:sym typeface="Proxima Nova"/>
              </a:rPr>
              <a:t>Higher AUC</a:t>
            </a:r>
            <a:endParaRPr b="1" sz="1800">
              <a:solidFill>
                <a:schemeClr val="dk1"/>
              </a:solidFill>
              <a:latin typeface="Proxima Nova"/>
              <a:ea typeface="Proxima Nova"/>
              <a:cs typeface="Proxima Nova"/>
              <a:sym typeface="Proxima Nova"/>
            </a:endParaRPr>
          </a:p>
        </p:txBody>
      </p:sp>
      <p:sp>
        <p:nvSpPr>
          <p:cNvPr id="178" name="Google Shape;178;p24"/>
          <p:cNvSpPr txBox="1"/>
          <p:nvPr/>
        </p:nvSpPr>
        <p:spPr>
          <a:xfrm>
            <a:off x="5090775" y="2201621"/>
            <a:ext cx="2493000" cy="38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Proxima Nova"/>
                <a:ea typeface="Proxima Nova"/>
                <a:cs typeface="Proxima Nova"/>
                <a:sym typeface="Proxima Nova"/>
              </a:rPr>
              <a:t>Advanced Models</a:t>
            </a:r>
            <a:endParaRPr b="1" sz="1800">
              <a:solidFill>
                <a:schemeClr val="dk1"/>
              </a:solidFill>
              <a:latin typeface="Proxima Nova"/>
              <a:ea typeface="Proxima Nova"/>
              <a:cs typeface="Proxima Nova"/>
              <a:sym typeface="Proxima Nova"/>
            </a:endParaRPr>
          </a:p>
        </p:txBody>
      </p:sp>
      <p:sp>
        <p:nvSpPr>
          <p:cNvPr id="179" name="Google Shape;179;p24"/>
          <p:cNvSpPr txBox="1"/>
          <p:nvPr/>
        </p:nvSpPr>
        <p:spPr>
          <a:xfrm>
            <a:off x="5090775" y="3014804"/>
            <a:ext cx="2493000" cy="38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Proxima Nova"/>
                <a:ea typeface="Proxima Nova"/>
                <a:cs typeface="Proxima Nova"/>
                <a:sym typeface="Proxima Nova"/>
              </a:rPr>
              <a:t>Rolling Validation</a:t>
            </a:r>
            <a:endParaRPr b="1" sz="1800">
              <a:solidFill>
                <a:schemeClr val="dk1"/>
              </a:solidFill>
              <a:latin typeface="Proxima Nova"/>
              <a:ea typeface="Proxima Nova"/>
              <a:cs typeface="Proxima Nova"/>
              <a:sym typeface="Proxima Nova"/>
            </a:endParaRPr>
          </a:p>
        </p:txBody>
      </p:sp>
      <p:sp>
        <p:nvSpPr>
          <p:cNvPr id="180" name="Google Shape;180;p24"/>
          <p:cNvSpPr txBox="1"/>
          <p:nvPr/>
        </p:nvSpPr>
        <p:spPr>
          <a:xfrm>
            <a:off x="5090775" y="3827988"/>
            <a:ext cx="2493000" cy="38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Proxima Nova"/>
                <a:ea typeface="Proxima Nova"/>
                <a:cs typeface="Proxima Nova"/>
                <a:sym typeface="Proxima Nova"/>
              </a:rPr>
              <a:t>More Realistic Results</a:t>
            </a:r>
            <a:endParaRPr b="1" sz="1800">
              <a:solidFill>
                <a:schemeClr val="dk1"/>
              </a:solidFill>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4" name="Shape 184"/>
        <p:cNvGrpSpPr/>
        <p:nvPr/>
      </p:nvGrpSpPr>
      <p:grpSpPr>
        <a:xfrm>
          <a:off x="0" y="0"/>
          <a:ext cx="0" cy="0"/>
          <a:chOff x="0" y="0"/>
          <a:chExt cx="0" cy="0"/>
        </a:xfrm>
      </p:grpSpPr>
      <p:sp>
        <p:nvSpPr>
          <p:cNvPr id="185" name="Google Shape;185;p25"/>
          <p:cNvSpPr/>
          <p:nvPr/>
        </p:nvSpPr>
        <p:spPr>
          <a:xfrm>
            <a:off x="4919900" y="878150"/>
            <a:ext cx="4156500" cy="14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lnSpc>
                <a:spcPct val="150000"/>
              </a:lnSpc>
              <a:spcBef>
                <a:spcPts val="0"/>
              </a:spcBef>
              <a:spcAft>
                <a:spcPts val="0"/>
              </a:spcAft>
              <a:buSzPts val="1600"/>
              <a:buFont typeface="Proxima Nova"/>
              <a:buChar char="●"/>
            </a:pPr>
            <a:r>
              <a:rPr b="1" lang="en" sz="1600">
                <a:latin typeface="Proxima Nova"/>
                <a:ea typeface="Proxima Nova"/>
                <a:cs typeface="Proxima Nova"/>
                <a:sym typeface="Proxima Nova"/>
              </a:rPr>
              <a:t>Imbalanced data</a:t>
            </a:r>
            <a:r>
              <a:rPr lang="en" sz="1600">
                <a:latin typeface="Proxima Nova"/>
                <a:ea typeface="Proxima Nova"/>
                <a:cs typeface="Proxima Nova"/>
                <a:sym typeface="Proxima Nova"/>
              </a:rPr>
              <a:t> is challenging</a:t>
            </a:r>
            <a:endParaRPr sz="1600">
              <a:latin typeface="Proxima Nova"/>
              <a:ea typeface="Proxima Nova"/>
              <a:cs typeface="Proxima Nova"/>
              <a:sym typeface="Proxima Nova"/>
            </a:endParaRPr>
          </a:p>
          <a:p>
            <a:pPr indent="-330200" lvl="0" marL="457200" rtl="0" algn="l">
              <a:lnSpc>
                <a:spcPct val="150000"/>
              </a:lnSpc>
              <a:spcBef>
                <a:spcPts val="0"/>
              </a:spcBef>
              <a:spcAft>
                <a:spcPts val="0"/>
              </a:spcAft>
              <a:buSzPts val="1600"/>
              <a:buFont typeface="Proxima Nova"/>
              <a:buChar char="●"/>
            </a:pPr>
            <a:r>
              <a:rPr lang="en" sz="1600">
                <a:latin typeface="Proxima Nova"/>
                <a:ea typeface="Proxima Nova"/>
                <a:cs typeface="Proxima Nova"/>
                <a:sym typeface="Proxima Nova"/>
              </a:rPr>
              <a:t>Accuracy alone is not enough</a:t>
            </a:r>
            <a:endParaRPr sz="1600">
              <a:latin typeface="Proxima Nova"/>
              <a:ea typeface="Proxima Nova"/>
              <a:cs typeface="Proxima Nova"/>
              <a:sym typeface="Proxima Nova"/>
            </a:endParaRPr>
          </a:p>
          <a:p>
            <a:pPr indent="0" lvl="0" marL="457200" rtl="0" algn="l">
              <a:spcBef>
                <a:spcPts val="0"/>
              </a:spcBef>
              <a:spcAft>
                <a:spcPts val="0"/>
              </a:spcAft>
              <a:buNone/>
            </a:pPr>
            <a:r>
              <a:t/>
            </a:r>
            <a:endParaRPr>
              <a:latin typeface="Proxima Nova"/>
              <a:ea typeface="Proxima Nova"/>
              <a:cs typeface="Proxima Nova"/>
              <a:sym typeface="Proxima Nova"/>
            </a:endParaRPr>
          </a:p>
        </p:txBody>
      </p:sp>
      <p:sp>
        <p:nvSpPr>
          <p:cNvPr id="186" name="Google Shape;186;p25"/>
          <p:cNvSpPr txBox="1"/>
          <p:nvPr>
            <p:ph type="title"/>
          </p:nvPr>
        </p:nvSpPr>
        <p:spPr>
          <a:xfrm>
            <a:off x="927000" y="7900"/>
            <a:ext cx="729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solidFill>
                  <a:schemeClr val="lt1"/>
                </a:solidFill>
              </a:rPr>
              <a:t>Key Takeaways</a:t>
            </a:r>
            <a:endParaRPr b="1" sz="3020">
              <a:solidFill>
                <a:schemeClr val="lt1"/>
              </a:solidFill>
            </a:endParaRPr>
          </a:p>
        </p:txBody>
      </p:sp>
      <p:sp>
        <p:nvSpPr>
          <p:cNvPr id="187" name="Google Shape;187;p25"/>
          <p:cNvSpPr/>
          <p:nvPr/>
        </p:nvSpPr>
        <p:spPr>
          <a:xfrm>
            <a:off x="0" y="7900"/>
            <a:ext cx="9198300" cy="50331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88" name="Google Shape;188;p25"/>
          <p:cNvSpPr/>
          <p:nvPr/>
        </p:nvSpPr>
        <p:spPr>
          <a:xfrm>
            <a:off x="274300" y="3184225"/>
            <a:ext cx="4156500" cy="14727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Proxima Nova"/>
              <a:buChar char="●"/>
            </a:pPr>
            <a:r>
              <a:rPr lang="en" sz="1600">
                <a:solidFill>
                  <a:schemeClr val="lt1"/>
                </a:solidFill>
                <a:latin typeface="Proxima Nova"/>
                <a:ea typeface="Proxima Nova"/>
                <a:cs typeface="Proxima Nova"/>
                <a:sym typeface="Proxima Nova"/>
              </a:rPr>
              <a:t>Decision Tree </a:t>
            </a:r>
            <a:r>
              <a:rPr b="1" lang="en" sz="1600">
                <a:solidFill>
                  <a:schemeClr val="lt1"/>
                </a:solidFill>
                <a:latin typeface="Proxima Nova"/>
                <a:ea typeface="Proxima Nova"/>
                <a:cs typeface="Proxima Nova"/>
                <a:sym typeface="Proxima Nova"/>
              </a:rPr>
              <a:t>performed best</a:t>
            </a:r>
            <a:endParaRPr b="1" sz="1600">
              <a:solidFill>
                <a:schemeClr val="lt1"/>
              </a:solidFill>
              <a:latin typeface="Proxima Nova"/>
              <a:ea typeface="Proxima Nova"/>
              <a:cs typeface="Proxima Nova"/>
              <a:sym typeface="Proxima Nova"/>
            </a:endParaRPr>
          </a:p>
          <a:p>
            <a:pPr indent="-292100" lvl="1" marL="914400" rtl="0" algn="l">
              <a:lnSpc>
                <a:spcPct val="150000"/>
              </a:lnSpc>
              <a:spcBef>
                <a:spcPts val="0"/>
              </a:spcBef>
              <a:spcAft>
                <a:spcPts val="0"/>
              </a:spcAft>
              <a:buClr>
                <a:schemeClr val="lt1"/>
              </a:buClr>
              <a:buSzPts val="1000"/>
              <a:buFont typeface="Proxima Nova"/>
              <a:buChar char="○"/>
            </a:pPr>
            <a:r>
              <a:rPr b="1" lang="en" sz="1000">
                <a:solidFill>
                  <a:schemeClr val="lt1"/>
                </a:solidFill>
                <a:latin typeface="Proxima Nova"/>
                <a:ea typeface="Proxima Nova"/>
                <a:cs typeface="Proxima Nova"/>
                <a:sym typeface="Proxima Nova"/>
              </a:rPr>
              <a:t>Non-Linear Relationships → Decision Tree Advantage</a:t>
            </a:r>
            <a:endParaRPr b="1" sz="1000">
              <a:solidFill>
                <a:schemeClr val="lt1"/>
              </a:solidFill>
              <a:latin typeface="Proxima Nova"/>
              <a:ea typeface="Proxima Nova"/>
              <a:cs typeface="Proxima Nova"/>
              <a:sym typeface="Proxima Nova"/>
            </a:endParaRPr>
          </a:p>
          <a:p>
            <a:pPr indent="-330200" lvl="0" marL="457200" rtl="0" algn="l">
              <a:lnSpc>
                <a:spcPct val="150000"/>
              </a:lnSpc>
              <a:spcBef>
                <a:spcPts val="0"/>
              </a:spcBef>
              <a:spcAft>
                <a:spcPts val="0"/>
              </a:spcAft>
              <a:buClr>
                <a:schemeClr val="lt1"/>
              </a:buClr>
              <a:buSzPts val="1600"/>
              <a:buFont typeface="Proxima Nova"/>
              <a:buChar char="●"/>
            </a:pPr>
            <a:r>
              <a:rPr lang="en" sz="1600">
                <a:solidFill>
                  <a:schemeClr val="lt1"/>
                </a:solidFill>
                <a:latin typeface="Proxima Nova"/>
                <a:ea typeface="Proxima Nova"/>
                <a:cs typeface="Proxima Nova"/>
                <a:sym typeface="Proxima Nova"/>
              </a:rPr>
              <a:t>Data quality impact performance</a:t>
            </a:r>
            <a:endParaRPr sz="1600">
              <a:solidFill>
                <a:schemeClr val="lt1"/>
              </a:solidFill>
              <a:latin typeface="Proxima Nova"/>
              <a:ea typeface="Proxima Nova"/>
              <a:cs typeface="Proxima Nova"/>
              <a:sym typeface="Proxima Nov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2" name="Shape 192"/>
        <p:cNvGrpSpPr/>
        <p:nvPr/>
      </p:nvGrpSpPr>
      <p:grpSpPr>
        <a:xfrm>
          <a:off x="0" y="0"/>
          <a:ext cx="0" cy="0"/>
          <a:chOff x="0" y="0"/>
          <a:chExt cx="0" cy="0"/>
        </a:xfrm>
      </p:grpSpPr>
      <p:sp>
        <p:nvSpPr>
          <p:cNvPr id="193" name="Google Shape;193;p26"/>
          <p:cNvSpPr/>
          <p:nvPr/>
        </p:nvSpPr>
        <p:spPr>
          <a:xfrm>
            <a:off x="311575" y="1152475"/>
            <a:ext cx="8520600" cy="312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94" name="Google Shape;194;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7350" lvl="0" marL="457200" rtl="0" algn="l">
              <a:lnSpc>
                <a:spcPct val="150000"/>
              </a:lnSpc>
              <a:spcBef>
                <a:spcPts val="0"/>
              </a:spcBef>
              <a:spcAft>
                <a:spcPts val="0"/>
              </a:spcAft>
              <a:buClr>
                <a:srgbClr val="000000"/>
              </a:buClr>
              <a:buSzPts val="2500"/>
              <a:buChar char="●"/>
            </a:pPr>
            <a:r>
              <a:rPr lang="en" sz="2500">
                <a:solidFill>
                  <a:srgbClr val="000000"/>
                </a:solidFill>
              </a:rPr>
              <a:t>Decision Tree performed the best across all data sets</a:t>
            </a:r>
            <a:endParaRPr sz="2500">
              <a:solidFill>
                <a:srgbClr val="000000"/>
              </a:solidFill>
            </a:endParaRPr>
          </a:p>
          <a:p>
            <a:pPr indent="-387350" lvl="0" marL="457200" rtl="0" algn="l">
              <a:lnSpc>
                <a:spcPct val="150000"/>
              </a:lnSpc>
              <a:spcBef>
                <a:spcPts val="0"/>
              </a:spcBef>
              <a:spcAft>
                <a:spcPts val="0"/>
              </a:spcAft>
              <a:buClr>
                <a:srgbClr val="000000"/>
              </a:buClr>
              <a:buSzPts val="2500"/>
              <a:buChar char="●"/>
            </a:pPr>
            <a:r>
              <a:rPr lang="en" sz="2500">
                <a:solidFill>
                  <a:srgbClr val="000000"/>
                </a:solidFill>
              </a:rPr>
              <a:t>KNN depends heavily on </a:t>
            </a:r>
            <a:r>
              <a:rPr b="1" lang="en" sz="2500">
                <a:solidFill>
                  <a:srgbClr val="000000"/>
                </a:solidFill>
              </a:rPr>
              <a:t>data quality and balance</a:t>
            </a:r>
            <a:endParaRPr b="1" sz="2500">
              <a:solidFill>
                <a:srgbClr val="000000"/>
              </a:solidFill>
            </a:endParaRPr>
          </a:p>
          <a:p>
            <a:pPr indent="-387350" lvl="0" marL="457200" rtl="0" algn="l">
              <a:lnSpc>
                <a:spcPct val="150000"/>
              </a:lnSpc>
              <a:spcBef>
                <a:spcPts val="0"/>
              </a:spcBef>
              <a:spcAft>
                <a:spcPts val="0"/>
              </a:spcAft>
              <a:buClr>
                <a:srgbClr val="000000"/>
              </a:buClr>
              <a:buSzPts val="2500"/>
              <a:buChar char="●"/>
            </a:pPr>
            <a:r>
              <a:rPr lang="en" sz="2500">
                <a:solidFill>
                  <a:srgbClr val="000000"/>
                </a:solidFill>
              </a:rPr>
              <a:t>Logistic Regression provides a </a:t>
            </a:r>
            <a:r>
              <a:rPr b="1" lang="en" sz="2500">
                <a:solidFill>
                  <a:srgbClr val="000000"/>
                </a:solidFill>
              </a:rPr>
              <a:t>strong baseline</a:t>
            </a:r>
            <a:endParaRPr b="1" sz="2500">
              <a:solidFill>
                <a:srgbClr val="000000"/>
              </a:solidFill>
            </a:endParaRPr>
          </a:p>
          <a:p>
            <a:pPr indent="-387350" lvl="0" marL="457200" rtl="0" algn="l">
              <a:lnSpc>
                <a:spcPct val="150000"/>
              </a:lnSpc>
              <a:spcBef>
                <a:spcPts val="0"/>
              </a:spcBef>
              <a:spcAft>
                <a:spcPts val="0"/>
              </a:spcAft>
              <a:buClr>
                <a:srgbClr val="000000"/>
              </a:buClr>
              <a:buSzPts val="2500"/>
              <a:buChar char="●"/>
            </a:pPr>
            <a:r>
              <a:rPr lang="en" sz="2500">
                <a:solidFill>
                  <a:srgbClr val="000000"/>
                </a:solidFill>
              </a:rPr>
              <a:t>Data preprocessing and evaluation are </a:t>
            </a:r>
            <a:r>
              <a:rPr b="1" lang="en" sz="2500">
                <a:solidFill>
                  <a:srgbClr val="000000"/>
                </a:solidFill>
              </a:rPr>
              <a:t>critical for success</a:t>
            </a:r>
            <a:endParaRPr b="1" sz="2300">
              <a:solidFill>
                <a:srgbClr val="000000"/>
              </a:solidFill>
            </a:endParaRPr>
          </a:p>
        </p:txBody>
      </p:sp>
      <p:sp>
        <p:nvSpPr>
          <p:cNvPr id="195" name="Google Shape;195;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solidFill>
                  <a:schemeClr val="lt1"/>
                </a:solidFill>
              </a:rPr>
              <a:t>Conclusion</a:t>
            </a:r>
            <a:endParaRPr b="1" sz="302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9" name="Shape 199"/>
        <p:cNvGrpSpPr/>
        <p:nvPr/>
      </p:nvGrpSpPr>
      <p:grpSpPr>
        <a:xfrm>
          <a:off x="0" y="0"/>
          <a:ext cx="0" cy="0"/>
          <a:chOff x="0" y="0"/>
          <a:chExt cx="0" cy="0"/>
        </a:xfrm>
      </p:grpSpPr>
      <p:sp>
        <p:nvSpPr>
          <p:cNvPr id="200" name="Google Shape;200;p27"/>
          <p:cNvSpPr txBox="1"/>
          <p:nvPr>
            <p:ph idx="1" type="body"/>
          </p:nvPr>
        </p:nvSpPr>
        <p:spPr>
          <a:xfrm>
            <a:off x="310650" y="120875"/>
            <a:ext cx="8522700" cy="44556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b="1" lang="en" sz="4500">
                <a:solidFill>
                  <a:schemeClr val="lt1"/>
                </a:solidFill>
              </a:rPr>
              <a:t>Thank you</a:t>
            </a:r>
            <a:endParaRPr b="1" sz="4500">
              <a:solidFill>
                <a:schemeClr val="lt1"/>
              </a:solidFill>
            </a:endParaRPr>
          </a:p>
        </p:txBody>
      </p:sp>
      <p:cxnSp>
        <p:nvCxnSpPr>
          <p:cNvPr id="201" name="Google Shape;201;p27"/>
          <p:cNvCxnSpPr/>
          <p:nvPr/>
        </p:nvCxnSpPr>
        <p:spPr>
          <a:xfrm>
            <a:off x="3027450" y="2749250"/>
            <a:ext cx="3097800" cy="7500"/>
          </a:xfrm>
          <a:prstGeom prst="straightConnector1">
            <a:avLst/>
          </a:prstGeom>
          <a:noFill/>
          <a:ln cap="flat" cmpd="sng" w="9525">
            <a:solidFill>
              <a:schemeClr val="dk2"/>
            </a:solidFill>
            <a:prstDash val="solid"/>
            <a:round/>
            <a:headEnd len="med" w="med" type="none"/>
            <a:tailEnd len="med" w="med" type="none"/>
          </a:ln>
        </p:spPr>
      </p:cxnSp>
      <p:cxnSp>
        <p:nvCxnSpPr>
          <p:cNvPr id="202" name="Google Shape;202;p27"/>
          <p:cNvCxnSpPr/>
          <p:nvPr/>
        </p:nvCxnSpPr>
        <p:spPr>
          <a:xfrm>
            <a:off x="3255275" y="2915400"/>
            <a:ext cx="2636100" cy="15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